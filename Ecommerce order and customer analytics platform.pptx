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3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Electronics</c:v>
                </c:pt>
                <c:pt idx="1">
                  <c:v>Home</c:v>
                </c:pt>
                <c:pt idx="2">
                  <c:v>Sports</c:v>
                </c:pt>
                <c:pt idx="3">
                  <c:v>Fashion</c:v>
                </c:pt>
                <c:pt idx="4">
                  <c:v>Grocery</c:v>
                </c:pt>
                <c:pt idx="5">
                  <c:v>Beauty</c:v>
                </c:pt>
                <c:pt idx="6">
                  <c:v>Books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430.6</c:v>
                </c:pt>
                <c:pt idx="1">
                  <c:v>71.599999999999994</c:v>
                </c:pt>
                <c:pt idx="2">
                  <c:v>47.6</c:v>
                </c:pt>
                <c:pt idx="3">
                  <c:v>33.4</c:v>
                </c:pt>
                <c:pt idx="4">
                  <c:v>4.2</c:v>
                </c:pt>
                <c:pt idx="5">
                  <c:v>3.8</c:v>
                </c:pt>
                <c:pt idx="6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36-435B-9901-DA7C895FFE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326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18-25</c:v>
                </c:pt>
                <c:pt idx="1">
                  <c:v>26-35</c:v>
                </c:pt>
                <c:pt idx="2">
                  <c:v>36-45</c:v>
                </c:pt>
                <c:pt idx="3">
                  <c:v>46-55</c:v>
                </c:pt>
                <c:pt idx="4">
                  <c:v>56-65</c:v>
                </c:pt>
                <c:pt idx="5">
                  <c:v>65+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61594</c:v>
                </c:pt>
                <c:pt idx="1">
                  <c:v>87847</c:v>
                </c:pt>
                <c:pt idx="2">
                  <c:v>50169</c:v>
                </c:pt>
                <c:pt idx="3">
                  <c:v>30359</c:v>
                </c:pt>
                <c:pt idx="4">
                  <c:v>15176</c:v>
                </c:pt>
                <c:pt idx="5">
                  <c:v>4855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DB-41A6-BBE3-917D4170B24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326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2B13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884-4FCF-A747-73434E1AE1F5}"/>
              </c:ext>
            </c:extLst>
          </c:dPt>
          <c:dPt>
            <c:idx val="1"/>
            <c:bubble3D val="0"/>
            <c:spPr>
              <a:solidFill>
                <a:srgbClr val="9AA3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884-4FCF-A747-73434E1AE1F5}"/>
              </c:ext>
            </c:extLst>
          </c:dPt>
          <c:dPt>
            <c:idx val="2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884-4FCF-A747-73434E1AE1F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884-4FCF-A747-73434E1AE1F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884-4FCF-A747-73434E1AE1F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884-4FCF-A747-73434E1AE1F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Platinum</c:v>
                </c:pt>
                <c:pt idx="1">
                  <c:v>Gold</c:v>
                </c:pt>
                <c:pt idx="2">
                  <c:v>Silver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27349</c:v>
                </c:pt>
                <c:pt idx="1">
                  <c:v>6692</c:v>
                </c:pt>
                <c:pt idx="2">
                  <c:v>5959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884-4FCF-A747-73434E1AE1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Uttar Pradesh</c:v>
                </c:pt>
                <c:pt idx="1">
                  <c:v>Rajasthan</c:v>
                </c:pt>
                <c:pt idx="2">
                  <c:v>Haryana</c:v>
                </c:pt>
                <c:pt idx="3">
                  <c:v>Maharashtra</c:v>
                </c:pt>
                <c:pt idx="4">
                  <c:v>Punjab</c:v>
                </c:pt>
                <c:pt idx="5">
                  <c:v>Gujarat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76.8</c:v>
                </c:pt>
                <c:pt idx="1">
                  <c:v>75.7</c:v>
                </c:pt>
                <c:pt idx="2">
                  <c:v>75.5</c:v>
                </c:pt>
                <c:pt idx="3">
                  <c:v>60.6</c:v>
                </c:pt>
                <c:pt idx="4">
                  <c:v>59.9</c:v>
                </c:pt>
                <c:pt idx="5">
                  <c:v>59.9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E8-4FA4-A455-0697C4F474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326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2B13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110-4243-9C82-37726FBDD55D}"/>
              </c:ext>
            </c:extLst>
          </c:dPt>
          <c:dPt>
            <c:idx val="1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110-4243-9C82-37726FBDD55D}"/>
              </c:ext>
            </c:extLst>
          </c:dPt>
          <c:dPt>
            <c:idx val="2"/>
            <c:bubble3D val="0"/>
            <c:spPr>
              <a:solidFill>
                <a:srgbClr val="6D7B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110-4243-9C82-37726FBDD55D}"/>
              </c:ext>
            </c:extLst>
          </c:dPt>
          <c:dPt>
            <c:idx val="3"/>
            <c:bubble3D val="0"/>
            <c:spPr>
              <a:solidFill>
                <a:srgbClr val="B9C1E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110-4243-9C82-37726FBDD55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110-4243-9C82-37726FBDD55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110-4243-9C82-37726FBDD55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110-4243-9C82-37726FBDD55D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110-4243-9C82-37726FBDD55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UPI</c:v>
                </c:pt>
                <c:pt idx="1">
                  <c:v>Cash on Delivery</c:v>
                </c:pt>
                <c:pt idx="2">
                  <c:v>Debit Card</c:v>
                </c:pt>
                <c:pt idx="3">
                  <c:v>Credit Card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128474</c:v>
                </c:pt>
                <c:pt idx="1">
                  <c:v>82093</c:v>
                </c:pt>
                <c:pt idx="2">
                  <c:v>28856</c:v>
                </c:pt>
                <c:pt idx="3">
                  <c:v>10577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110-4243-9C82-37726FBDD5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ln w="31750" cap="flat">
              <a:solidFill>
                <a:srgbClr val="F2B134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F2B134"/>
              </a:solidFill>
              <a:ln w="9525" cap="flat">
                <a:solidFill>
                  <a:srgbClr val="F2B134"/>
                </a:solidFill>
                <a:prstDash val="solid"/>
                <a:round/>
              </a:ln>
              <a:effectLst/>
            </c:spPr>
          </c:marker>
          <c:cat>
            <c:strRef>
              <c:f>Sheet1!$A$2:$A$26</c:f>
              <c:strCache>
                <c:ptCount val="25"/>
                <c:pt idx="0">
                  <c:v>Jun'24</c:v>
                </c:pt>
                <c:pt idx="1">
                  <c:v>Jul'24</c:v>
                </c:pt>
                <c:pt idx="2">
                  <c:v>Aug'24</c:v>
                </c:pt>
                <c:pt idx="3">
                  <c:v>Sep'24</c:v>
                </c:pt>
                <c:pt idx="4">
                  <c:v>Oct'24</c:v>
                </c:pt>
                <c:pt idx="5">
                  <c:v>Nov'24</c:v>
                </c:pt>
                <c:pt idx="6">
                  <c:v>Dec'24</c:v>
                </c:pt>
                <c:pt idx="7">
                  <c:v>Jan'25</c:v>
                </c:pt>
                <c:pt idx="8">
                  <c:v>Feb'25</c:v>
                </c:pt>
                <c:pt idx="9">
                  <c:v>Mar'25</c:v>
                </c:pt>
                <c:pt idx="10">
                  <c:v>Apr'25</c:v>
                </c:pt>
                <c:pt idx="11">
                  <c:v>May'25</c:v>
                </c:pt>
                <c:pt idx="12">
                  <c:v>Jun'25</c:v>
                </c:pt>
                <c:pt idx="13">
                  <c:v>Jul'25</c:v>
                </c:pt>
                <c:pt idx="14">
                  <c:v>Aug'25</c:v>
                </c:pt>
                <c:pt idx="15">
                  <c:v>Sep'25</c:v>
                </c:pt>
                <c:pt idx="16">
                  <c:v>Oct'25</c:v>
                </c:pt>
                <c:pt idx="17">
                  <c:v>Nov'25</c:v>
                </c:pt>
                <c:pt idx="18">
                  <c:v>Dec'25</c:v>
                </c:pt>
                <c:pt idx="19">
                  <c:v>Jan'26</c:v>
                </c:pt>
                <c:pt idx="20">
                  <c:v>Feb'26</c:v>
                </c:pt>
                <c:pt idx="21">
                  <c:v>Mar'26</c:v>
                </c:pt>
                <c:pt idx="22">
                  <c:v>Apr'26</c:v>
                </c:pt>
                <c:pt idx="23">
                  <c:v>May'26</c:v>
                </c:pt>
                <c:pt idx="24">
                  <c:v>Jun'26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24.1</c:v>
                </c:pt>
                <c:pt idx="1">
                  <c:v>24.1</c:v>
                </c:pt>
                <c:pt idx="2">
                  <c:v>24</c:v>
                </c:pt>
                <c:pt idx="3">
                  <c:v>22.9</c:v>
                </c:pt>
                <c:pt idx="4">
                  <c:v>24</c:v>
                </c:pt>
                <c:pt idx="5">
                  <c:v>23.5</c:v>
                </c:pt>
                <c:pt idx="6">
                  <c:v>24.2</c:v>
                </c:pt>
                <c:pt idx="7">
                  <c:v>24.1</c:v>
                </c:pt>
                <c:pt idx="8">
                  <c:v>21.5</c:v>
                </c:pt>
                <c:pt idx="9">
                  <c:v>24.3</c:v>
                </c:pt>
                <c:pt idx="10">
                  <c:v>24.1</c:v>
                </c:pt>
                <c:pt idx="11">
                  <c:v>24.1</c:v>
                </c:pt>
                <c:pt idx="12">
                  <c:v>23.2</c:v>
                </c:pt>
                <c:pt idx="13">
                  <c:v>23.8</c:v>
                </c:pt>
                <c:pt idx="14">
                  <c:v>24.6</c:v>
                </c:pt>
                <c:pt idx="15">
                  <c:v>22.8</c:v>
                </c:pt>
                <c:pt idx="16">
                  <c:v>24.7</c:v>
                </c:pt>
                <c:pt idx="17">
                  <c:v>23.3</c:v>
                </c:pt>
                <c:pt idx="18">
                  <c:v>24.4</c:v>
                </c:pt>
                <c:pt idx="19">
                  <c:v>23.7</c:v>
                </c:pt>
                <c:pt idx="20">
                  <c:v>22.5</c:v>
                </c:pt>
                <c:pt idx="21">
                  <c:v>24.8</c:v>
                </c:pt>
                <c:pt idx="22">
                  <c:v>23.2</c:v>
                </c:pt>
                <c:pt idx="23">
                  <c:v>23.5</c:v>
                </c:pt>
                <c:pt idx="24">
                  <c:v>23.6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2CE-4030-A74B-68359F278D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6B708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6"/>
          <c:min val="20"/>
        </c:scaling>
        <c:delete val="0"/>
        <c:axPos val="l"/>
        <c:majorGridlines>
          <c:spPr>
            <a:ln w="9525" cap="flat">
              <a:solidFill>
                <a:srgbClr val="E4E7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08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8869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A6C6B-F606-7ED9-0928-81CF049AC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98DB19-D538-3A53-6BBC-2E825CC7C2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C9C563-902E-5799-1A89-DA969C525A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85065-7797-5072-CAE1-A1C102B895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896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4" name="Shape 2"/>
          <p:cNvSpPr/>
          <p:nvPr/>
        </p:nvSpPr>
        <p:spPr>
          <a:xfrm>
            <a:off x="11109960" y="4709160"/>
            <a:ext cx="1920240" cy="1920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-457200" y="5989320"/>
            <a:ext cx="13075920" cy="18288"/>
          </a:xfrm>
          <a:prstGeom prst="rect">
            <a:avLst/>
          </a:prstGeom>
          <a:solidFill>
            <a:srgbClr val="3B459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PLATFORM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Order &amp;</a:t>
            </a:r>
            <a:endParaRPr lang="en-US" sz="4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Analytics Platform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49808" y="41605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250,000 orders, 40,000 customers and 2,000 products into a single source of truth for revenue, profitability and customer insight.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9808" y="5074920"/>
            <a:ext cx="1005840" cy="0"/>
          </a:xfrm>
          <a:prstGeom prst="line">
            <a:avLst/>
          </a:prstGeom>
          <a:noFill/>
          <a:ln w="31750">
            <a:solidFill>
              <a:srgbClr val="F2B1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52303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  •   Products   •   Sales   •   KPIs   •   Dashboards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Order &amp; Customer Analytics Platform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6B241015-B05C-6676-23D2-4800F65A3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667" y="-15075"/>
            <a:ext cx="1716458" cy="80086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Platform Does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consolidates raw transactional and customer data into a governed analytics layer — cleaning, joining and enriching Customer, Product and Sales records into a unified Master Data model. On top of this model sit standardized KPIs and interactive dashboards that let stakeholders track revenue, profitability, customer behavior and fulfillment performance without touching raw data.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822192"/>
            <a:ext cx="128016" cy="128016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66674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across orders, customers &amp; products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4279392"/>
            <a:ext cx="128016" cy="128016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12394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profitability tracking at the order level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736592"/>
            <a:ext cx="128016" cy="128016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58114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customers by tier, age &amp; geography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193792"/>
            <a:ext cx="128016" cy="128016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503834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fulfillment &amp; payment trends for operations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12648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783080"/>
            <a:ext cx="548640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99339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9933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95160" y="189280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995160" y="22037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40,000 customer records — demographics, tier &amp; lifetime spend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880360"/>
            <a:ext cx="548640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309067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30906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5160" y="299008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95160" y="330098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SKUs across 7 categories &amp; 33 brands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3977640"/>
            <a:ext cx="548640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418795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41879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95160" y="408736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/ Orders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995160" y="439826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250,000 transactions with pricing, coupons &amp; ratings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5074920"/>
            <a:ext cx="548640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528523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5285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95160" y="518464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+ KPIs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995160" y="54955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model with cost, profit &amp; derived KPIs powering the dashboard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Order &amp; Customer Analytics Platform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36" name="Picture 2">
            <a:extLst>
              <a:ext uri="{FF2B5EF4-FFF2-40B4-BE49-F238E27FC236}">
                <a16:creationId xmlns:a16="http://schemas.microsoft.com/office/drawing/2014/main" id="{DBCAE372-E067-BE82-F69B-6ED46EB2AA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2582" y="-45828"/>
            <a:ext cx="1716458" cy="80086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SNAPSHOT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Metrics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82296" cy="169164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728216"/>
            <a:ext cx="306324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₹593.1 Cr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04672" y="2649017"/>
            <a:ext cx="3063240" cy="575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(Total Amount)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6002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25112" y="1600200"/>
            <a:ext cx="82296" cy="16916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4581144" y="1728216"/>
            <a:ext cx="306324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₹48.6 Cr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81144" y="2649017"/>
            <a:ext cx="3063240" cy="575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  ·  8.2% margin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01584" y="16002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01584" y="1600200"/>
            <a:ext cx="82296" cy="1691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357616" y="1728216"/>
            <a:ext cx="306324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250,000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357616" y="2649017"/>
            <a:ext cx="3063240" cy="575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Processed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47872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547872"/>
            <a:ext cx="82296" cy="1691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675888"/>
            <a:ext cx="306324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40,000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04672" y="4596689"/>
            <a:ext cx="3063240" cy="575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Customers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25112" y="3547872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25112" y="3547872"/>
            <a:ext cx="82296" cy="1691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81144" y="3675888"/>
            <a:ext cx="306324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581144" y="4596689"/>
            <a:ext cx="3063240" cy="575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across 7 Categories, 33 Brands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01584" y="3547872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01584" y="3547872"/>
            <a:ext cx="82296" cy="1691640"/>
          </a:xfrm>
          <a:prstGeom prst="rect">
            <a:avLst/>
          </a:prstGeom>
          <a:solidFill>
            <a:srgbClr val="E8604C"/>
          </a:solidFill>
          <a:ln/>
        </p:spPr>
      </p:sp>
      <p:sp>
        <p:nvSpPr>
          <p:cNvPr id="26" name="Text 24"/>
          <p:cNvSpPr/>
          <p:nvPr/>
        </p:nvSpPr>
        <p:spPr>
          <a:xfrm>
            <a:off x="8357616" y="3675888"/>
            <a:ext cx="306324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 / 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8357616" y="4596689"/>
            <a:ext cx="3063240" cy="575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Product Rating (528K reviews)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Order &amp; Customer Analytics Platform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7F6210F1-FF22-6DA3-9581-BDBD466A6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4527" y="-42291"/>
            <a:ext cx="1716458" cy="80086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Category &amp; Top Brands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 (₹ Cr)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828800"/>
          <a:ext cx="58521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675120" y="1463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Brands by Revenue (₹ Cr)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67512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675120" y="2258568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E4E7F5"/>
          </a:solidFill>
          <a:ln/>
        </p:spPr>
      </p:sp>
      <p:sp>
        <p:nvSpPr>
          <p:cNvPr id="9" name="Shape 6"/>
          <p:cNvSpPr/>
          <p:nvPr/>
        </p:nvSpPr>
        <p:spPr>
          <a:xfrm>
            <a:off x="6675120" y="2258568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F2B134"/>
          </a:solidFill>
          <a:ln/>
        </p:spPr>
      </p:sp>
      <p:sp>
        <p:nvSpPr>
          <p:cNvPr id="10" name="Text 7"/>
          <p:cNvSpPr/>
          <p:nvPr/>
        </p:nvSpPr>
        <p:spPr>
          <a:xfrm>
            <a:off x="10533888" y="222199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₹94.2 Cr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675120" y="2752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75120" y="3044952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E4E7F5"/>
          </a:solidFill>
          <a:ln/>
        </p:spPr>
      </p:sp>
      <p:sp>
        <p:nvSpPr>
          <p:cNvPr id="13" name="Shape 10"/>
          <p:cNvSpPr/>
          <p:nvPr/>
        </p:nvSpPr>
        <p:spPr>
          <a:xfrm>
            <a:off x="6675120" y="3044952"/>
            <a:ext cx="3637604" cy="256032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10533888" y="300837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₹91.4 Cr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675120" y="3538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675120" y="3831336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E4E7F5"/>
          </a:solidFill>
          <a:ln/>
        </p:spPr>
      </p:sp>
      <p:sp>
        <p:nvSpPr>
          <p:cNvPr id="17" name="Shape 14"/>
          <p:cNvSpPr/>
          <p:nvPr/>
        </p:nvSpPr>
        <p:spPr>
          <a:xfrm>
            <a:off x="6675120" y="3831336"/>
            <a:ext cx="3351053" cy="256032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10533888" y="3794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₹84.2 Cr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675120" y="4325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675120" y="4617720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E4E7F5"/>
          </a:solidFill>
          <a:ln/>
        </p:spPr>
      </p:sp>
      <p:sp>
        <p:nvSpPr>
          <p:cNvPr id="21" name="Shape 18"/>
          <p:cNvSpPr/>
          <p:nvPr/>
        </p:nvSpPr>
        <p:spPr>
          <a:xfrm>
            <a:off x="6675120" y="4617720"/>
            <a:ext cx="3323194" cy="256032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2" name="Text 19"/>
          <p:cNvSpPr/>
          <p:nvPr/>
        </p:nvSpPr>
        <p:spPr>
          <a:xfrm>
            <a:off x="10533888" y="458114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₹83.5 Cr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675120" y="51114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675120" y="5404104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E4E7F5"/>
          </a:solidFill>
          <a:ln/>
        </p:spPr>
      </p:sp>
      <p:sp>
        <p:nvSpPr>
          <p:cNvPr id="25" name="Shape 22"/>
          <p:cNvSpPr/>
          <p:nvPr/>
        </p:nvSpPr>
        <p:spPr>
          <a:xfrm>
            <a:off x="6675120" y="5404104"/>
            <a:ext cx="3072462" cy="256032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6" name="Text 23"/>
          <p:cNvSpPr/>
          <p:nvPr/>
        </p:nvSpPr>
        <p:spPr>
          <a:xfrm>
            <a:off x="10533888" y="536752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₹77.2 Cr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675120" y="6035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alone drives 72.6% of total revenue, led by HP, Noise, boAt, Samsung &amp; Apple.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Order &amp; Customer Analytics Platform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FADC54F0-A676-5754-BF46-3554B3154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3888" y="-33020"/>
            <a:ext cx="1716458" cy="80086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Are Our Customers?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Age Group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828800"/>
          <a:ext cx="58521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9893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26-35 is the core segment — 35.1% of all orders, followed by 18-25 at 24.6%.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675120" y="1463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by Loyalty Tier</a:t>
            </a:r>
            <a:endParaRPr lang="en-US" sz="13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858000" y="1783080"/>
          <a:ext cx="30175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6675120" y="48920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68.4% of customers hold Platinum status and account for 93.9% of lifetime customer spend.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675120" y="5486400"/>
            <a:ext cx="4937760" cy="502920"/>
          </a:xfrm>
          <a:prstGeom prst="roundRect">
            <a:avLst>
              <a:gd name="adj" fmla="val 10909"/>
            </a:avLst>
          </a:prstGeom>
          <a:solidFill>
            <a:srgbClr val="ECEFFB"/>
          </a:solidFill>
          <a:ln/>
        </p:spPr>
      </p:sp>
      <p:sp>
        <p:nvSpPr>
          <p:cNvPr id="11" name="Text 7"/>
          <p:cNvSpPr/>
          <p:nvPr/>
        </p:nvSpPr>
        <p:spPr>
          <a:xfrm>
            <a:off x="6812280" y="54864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split: 50.0% Male · 50.0% Female (near-even across 40,000 customers)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Order &amp; Customer Analytics Platform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51B0B79C-5D23-A90D-3D20-5B19AE2A42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3888" y="-33020"/>
            <a:ext cx="1716458" cy="80086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&amp; PAYMENTS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&amp; How Customers Buy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 by Revenue (₹ Cr)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828800"/>
          <a:ext cx="58521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675120" y="1463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Mode Split</a:t>
            </a:r>
            <a:endParaRPr lang="en-US" sz="13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949440" y="1783080"/>
          <a:ext cx="28346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6675120" y="49834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leads with 51.4% of all orders, ahead of Cash on Delivery at 32.8% — cards make up the remaining 15.7%.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675120" y="5760720"/>
            <a:ext cx="4937760" cy="502920"/>
          </a:xfrm>
          <a:prstGeom prst="roundRect">
            <a:avLst>
              <a:gd name="adj" fmla="val 10909"/>
            </a:avLst>
          </a:prstGeom>
          <a:solidFill>
            <a:srgbClr val="ECEFFB"/>
          </a:solidFill>
          <a:ln/>
        </p:spPr>
      </p:sp>
      <p:sp>
        <p:nvSpPr>
          <p:cNvPr id="10" name="Text 6"/>
          <p:cNvSpPr/>
          <p:nvPr/>
        </p:nvSpPr>
        <p:spPr>
          <a:xfrm>
            <a:off x="6812280" y="57607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spans 39 cities across 10 states — revenue is broad-based, not concentrated in one region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Order &amp; Customer Analytics Platform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278A484B-5DD7-50AA-F386-B8BB764A7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1291" y="-29573"/>
            <a:ext cx="1716458" cy="80086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&amp; FULFILLMENT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Trend &amp; Order Status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— Jun 2024 to Jun 2026 (₹ Cr)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828800"/>
          <a:ext cx="112471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572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remarkably stable, holding between ₹21.5–24.8 Cr per month for 25 straight months — no seasonal collapse.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5029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Breakdown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539496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5504688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54589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85800" y="57424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80.1%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85800" y="6108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200,139 orders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697480" y="539496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34640" y="5504688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3063240" y="54589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834640" y="57424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5.0%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2834640" y="6108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12,459 orders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846320" y="539496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83480" y="5504688"/>
            <a:ext cx="146304" cy="146304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20" name="Text 17"/>
          <p:cNvSpPr/>
          <p:nvPr/>
        </p:nvSpPr>
        <p:spPr>
          <a:xfrm>
            <a:off x="5212080" y="54589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983480" y="57424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5.0%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983480" y="6108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12,493 orders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995160" y="539496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132320" y="5504688"/>
            <a:ext cx="146304" cy="14630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Text 22"/>
          <p:cNvSpPr/>
          <p:nvPr/>
        </p:nvSpPr>
        <p:spPr>
          <a:xfrm>
            <a:off x="7360920" y="54589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132320" y="57424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5.0%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7132320" y="6108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12,402 orders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9144000" y="539496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281160" y="5504688"/>
            <a:ext cx="146304" cy="146304"/>
          </a:xfrm>
          <a:prstGeom prst="ellipse">
            <a:avLst/>
          </a:prstGeom>
          <a:solidFill>
            <a:srgbClr val="8A8FA6"/>
          </a:solidFill>
          <a:ln/>
        </p:spPr>
      </p:sp>
      <p:sp>
        <p:nvSpPr>
          <p:cNvPr id="30" name="Text 27"/>
          <p:cNvSpPr/>
          <p:nvPr/>
        </p:nvSpPr>
        <p:spPr>
          <a:xfrm>
            <a:off x="9509760" y="54589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9281160" y="57424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5.0%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9281160" y="6108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12,507 orders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Order &amp; Customer Analytics Platform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35" name="Picture 2">
            <a:extLst>
              <a:ext uri="{FF2B5EF4-FFF2-40B4-BE49-F238E27FC236}">
                <a16:creationId xmlns:a16="http://schemas.microsoft.com/office/drawing/2014/main" id="{C8EDFB9F-5D45-7860-0FD8-EB54DE26C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3888" y="-33020"/>
            <a:ext cx="1716458" cy="80086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389120"/>
            <a:ext cx="4114800" cy="41148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&amp; Recommendations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41A47"/>
          </a:solidFill>
          <a:ln w="12700">
            <a:solidFill>
              <a:srgbClr val="3B45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189280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is the growth engine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56032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72.6% of ₹593 Cr revenue comes from Electronics — diversify category mix to reduce concentration risk.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41A47"/>
          </a:solidFill>
          <a:ln w="12700">
            <a:solidFill>
              <a:srgbClr val="3B459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92024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0" y="189280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 customers drive the business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256032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68.4% of customers hold Platinum tier, contributing 93.9% of lifetime spend — protect this segment with retention perks.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41A47"/>
          </a:solidFill>
          <a:ln w="12700">
            <a:solidFill>
              <a:srgbClr val="3B459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425196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22452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is the dominant payment rail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489204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 of orders are paid via UPI — ensure UPI checkout is frictionless and always available.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40233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41A47"/>
          </a:solidFill>
          <a:ln w="12700">
            <a:solidFill>
              <a:srgbClr val="3B459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425196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2320" y="422452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is healthy but has room to improve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489204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80.1% Delivered vs. 5.0% Returned and 5.0% Cancelled each — investigate return drivers in the 20% non-delivered orders.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Order &amp; Customer Analytics Platform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4D8FE9A5-3730-0C9D-6D5B-604999ADE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3888" y="-33020"/>
            <a:ext cx="1716458" cy="80086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BF940F-724D-C5F6-BC4D-6D67CEEE6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E241C3D7-BE36-C736-ECB3-C1DA43B5A757}"/>
              </a:ext>
            </a:extLst>
          </p:cNvPr>
          <p:cNvSpPr txBox="1"/>
          <p:nvPr/>
        </p:nvSpPr>
        <p:spPr>
          <a:xfrm>
            <a:off x="2394339" y="2652980"/>
            <a:ext cx="68191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>
                    <a:lumMod val="95000"/>
                  </a:schemeClr>
                </a:solidFill>
              </a:rPr>
              <a:t>THANK</a:t>
            </a:r>
            <a:r>
              <a:rPr lang="en-US" sz="7200" dirty="0">
                <a:solidFill>
                  <a:schemeClr val="bg1">
                    <a:lumMod val="95000"/>
                  </a:schemeClr>
                </a:solidFill>
              </a:rPr>
              <a:t> YOU</a:t>
            </a:r>
            <a:endParaRPr lang="en-IN" sz="72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7486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695</Words>
  <Application>Microsoft Office PowerPoint</Application>
  <PresentationFormat>Widescreen</PresentationFormat>
  <Paragraphs>134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SUBHAJIT</dc:creator>
  <cp:lastModifiedBy>souvik adhikari</cp:lastModifiedBy>
  <cp:revision>3</cp:revision>
  <dcterms:created xsi:type="dcterms:W3CDTF">2026-08-29T10:17:59Z</dcterms:created>
  <dcterms:modified xsi:type="dcterms:W3CDTF">2026-08-29T12:56:15Z</dcterms:modified>
</cp:coreProperties>
</file>